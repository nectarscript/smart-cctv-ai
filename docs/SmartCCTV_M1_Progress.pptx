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731520"/>
            <a:ext cx="3200400" cy="32004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1828800" cy="18288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5029200"/>
            <a:ext cx="2560320" cy="256032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Multi-Camera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</a:t>
            </a:r>
            <a:pPr indent="0" marL="0">
              <a:buNone/>
            </a:pPr>
            <a:r>
              <a:rPr lang="en-US" sz="44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</a:t>
            </a:r>
            <a:pPr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 Behaviour Detection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Progress Report — Multi-Camera Ingestion &amp; AI Vision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2743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SEMINAR  ·  PTSS-2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SEMESTER  ·  MEGA PROJECT  ·  PHASE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Piyush N. Patil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 and project scope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CCTV systems are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record footage, but detection of suspicious activity relies on human operators watching multiple feeds simultaneously.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attention degrades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sharply after 20 minutes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continuous monitoring, causing critical events to be missed. Existing intelligent solutions are proprietary and expensive.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463040"/>
            <a:ext cx="4846320" cy="41148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40880" y="21488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Ingestion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23500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 from webcams, IP cameras, and video files in parallel.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29718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0" y="31729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person detection + ByteTrack for persistent identity tracking.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37947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Classification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39959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Pose-based rule engine flagging loitering, running, fighting, crowds.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461772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0" y="48188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streams live feed with severity-coded events.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works and existing approaches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0020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Ingestion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VideoCapture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Bradski (2000). Standard API for camera interfacing; blocking read() requires threaded capture.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(RFC 2326)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8679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IP camera protocol. FFmpeg backend handles reconnection and codec negotiation.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Drop-oldest Buffering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19379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(2019). Established practice in real-time surveillance pipelines.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51960" y="146304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60020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519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51960" y="254203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Jocher et al. (2023). ~37.3 mAP on COCO with 3.2M parameters; CSPDarknet + PAN-FPN.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51960" y="38679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(ECCV 2022). Byte-level association reduces ID switches vs SORT (Bewley 2016).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5196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library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51960" y="519379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(2023). Standardises detection/tracking interface with sv.Detections.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0" y="146304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160020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154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Analysis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467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254203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Bazarevsky et al. (2020). 33-keypoint BlazePose; ~92% PCKh on MPII.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ST-GCN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38679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et al. (AAAI 2018). Graph-CNN on skeletons; strong on NTU-RGB+D but heavy.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4672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Heuristics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0" y="519379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BriefCam, Avigilon. Reliable for spatial patterns; weak for complex acts.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Objective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existing work → concrete goals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surveillance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dominated by proprietary VMS (Milestone, Genetec). Open-source stacks usually handle a single camera. Cross-camera track association, adaptive frame handling, and pose-based behaviour reasoning are rarely combined in a unified academic pipeline.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 an intelligent multi-camera surveillance pipeline that detects and classifies suspicious human behaviour in real time using open-source AI components.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threaded multi-camera capture layer supporting webcam, RTSP, and video files.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44348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74720" y="4983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5303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YOLOv8 person detection with ByteTrack for persistent identity tracking.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44348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4983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5303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rule-based classifier over centroid history and pose keypoints.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0" y="44348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0" y="4983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0" y="5303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web dashboard with live streaming and severity-coded event log.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architecture: source → decision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· RTSP · Video File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212848" y="2423160"/>
            <a:ext cx="109728" cy="109728"/>
          </a:xfrm>
          <a:prstGeom prst="rightTriangle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2240280" y="16459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capture · Bounded queue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087368" y="2423160"/>
            <a:ext cx="109728" cy="109728"/>
          </a:xfrm>
          <a:prstGeom prst="rightTriangle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0" y="16459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5196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· Person-class filter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5961888" y="2423160"/>
            <a:ext cx="109728" cy="109728"/>
          </a:xfrm>
          <a:prstGeom prst="rightTriangle">
            <a:avLst/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5989320" y="16459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· Persistent IDs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7836408" y="2423160"/>
            <a:ext cx="109728" cy="109728"/>
          </a:xfrm>
          <a:prstGeom prst="rightTriangle">
            <a:avLst/>
          </a:prstGeom>
          <a:solidFill>
            <a:srgbClr val="C084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0" y="16459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010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0100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+ Pose keypoints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rot="5400000">
            <a:off x="9710928" y="2423160"/>
            <a:ext cx="109728" cy="109728"/>
          </a:xfrm>
          <a:prstGeom prst="rightTriangle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9738360" y="16459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755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875520" y="2560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· Event log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080" y="4892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independently testable and swappable.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37560" y="420624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First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520440" y="4892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Drop-oldest buffering favours recency over completeness.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420624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Baseline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400800" y="4892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commodity hardware; GPU is optional acceleration.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98280" y="420624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8116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281160" y="4892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exposed in YAML — no code changes to tune.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Distribution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across two phases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2697480" y="173736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Multi-Camera Ingestion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5087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25603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Tracking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0" y="15087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10287000" y="173736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8700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25603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Classification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77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4400" dirty="0"/>
          </a:p>
        </p:txBody>
      </p:sp>
      <p:sp>
        <p:nvSpPr>
          <p:cNvPr id="27" name="Shape 25"/>
          <p:cNvSpPr/>
          <p:nvPr/>
        </p:nvSpPr>
        <p:spPr>
          <a:xfrm>
            <a:off x="2697480" y="40690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4069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97480" y="4389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892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51960" y="38404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3977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4400" dirty="0"/>
          </a:p>
        </p:txBody>
      </p:sp>
      <p:sp>
        <p:nvSpPr>
          <p:cNvPr id="33" name="Shape 31"/>
          <p:cNvSpPr/>
          <p:nvPr/>
        </p:nvSpPr>
        <p:spPr>
          <a:xfrm>
            <a:off x="6492240" y="40690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069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4389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34840" y="4892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+ RBAC + Cloud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46720" y="38404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3977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4400" dirty="0"/>
          </a:p>
        </p:txBody>
      </p:sp>
      <p:sp>
        <p:nvSpPr>
          <p:cNvPr id="39" name="Shape 37"/>
          <p:cNvSpPr/>
          <p:nvPr/>
        </p:nvSpPr>
        <p:spPr>
          <a:xfrm>
            <a:off x="10287000" y="40690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87000" y="4069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287000" y="4389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92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+ Analytics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Multi-Camera Ingestion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the entire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raw video from heterogeneous sources — laptop webcams, IP cameras over RTSP, and pre-recorded video files — and deliver clean, timestamped frames to the downstream AI pipeline without blocking.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96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lifecycle of N camera streams (start / stop / restart)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462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capture per camera to avoid blocking the AI loop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28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queue with drop-oldest to keep frames fresh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937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cropping, colour conversion, letterboxing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62356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559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FPS and health metrics per camera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691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841248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Types Supported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· RTSP · File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2461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383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841248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in Parallel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Thread-per-camera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9377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5074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8412480" y="5257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Depth (queue)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12480" y="5760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Drop-oldest policy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Pipeline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Sources → Frame Capture → Preprocessing → Queue → AI Vision → Output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6459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Sources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/ RTSP URL / Video File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cv2.VideoCapture (CAP_FFMPEG)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2240280"/>
            <a:ext cx="182880" cy="137160"/>
          </a:xfrm>
          <a:prstGeom prst="downArrow">
            <a:avLst/>
          </a:prstGeom>
          <a:solidFill>
            <a:srgbClr val="1F2937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0" y="239572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20440" y="2304288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3500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Capture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2670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per-camera read loop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2441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CameraSource (daemon thread)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63240" y="2990088"/>
            <a:ext cx="182880" cy="137160"/>
          </a:xfrm>
          <a:prstGeom prst="downArrow">
            <a:avLst/>
          </a:prstGeom>
          <a:solidFill>
            <a:srgbClr val="1F2937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314553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520440" y="3054096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34198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Cropping · BGR→RGB · Letterbox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31912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preprocessor.py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63240" y="3739896"/>
            <a:ext cx="182880" cy="137160"/>
          </a:xfrm>
          <a:prstGeom prst="downArrow">
            <a:avLst/>
          </a:prstGeom>
          <a:solidFill>
            <a:srgbClr val="1F2937"/>
          </a:solidFill>
          <a:ln/>
        </p:spPr>
      </p:sp>
      <p:sp>
        <p:nvSpPr>
          <p:cNvPr id="28" name="Shape 26"/>
          <p:cNvSpPr/>
          <p:nvPr/>
        </p:nvSpPr>
        <p:spPr>
          <a:xfrm>
            <a:off x="2926080" y="3895344"/>
            <a:ext cx="457200" cy="45720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520440" y="3803904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8496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Buffer / Queue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03320" y="4169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queue, drop-oldest on full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39410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queue.Queue(maxsize=1)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63240" y="4489704"/>
            <a:ext cx="182880" cy="137160"/>
          </a:xfrm>
          <a:prstGeom prst="downArrow">
            <a:avLst/>
          </a:prstGeom>
          <a:solidFill>
            <a:srgbClr val="1F2937"/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0" y="46451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520440" y="4553712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4599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Vision Pipeline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03320" y="49194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Tracking → Behaviour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0" y="4690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+ M3 downstream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63240" y="5239512"/>
            <a:ext cx="182880" cy="137160"/>
          </a:xfrm>
          <a:prstGeom prst="downArrow">
            <a:avLst/>
          </a:prstGeom>
          <a:solidFill>
            <a:srgbClr val="1F2937"/>
          </a:solidFill>
          <a:ln/>
        </p:spPr>
      </p:sp>
      <p:sp>
        <p:nvSpPr>
          <p:cNvPr id="42" name="Shape 40"/>
          <p:cNvSpPr/>
          <p:nvPr/>
        </p:nvSpPr>
        <p:spPr>
          <a:xfrm>
            <a:off x="2926080" y="539496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292608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520440" y="530352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5349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Processed Output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703320" y="5669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frames + Behaviour Events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0" y="5440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 → Web Dashboard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192024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Webcam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246888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 (RTSP)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301752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Files (.mp4)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Implementation Detail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in the repository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Components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CameraSource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src/ingestion/camera_source.py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Thread-per-camera capture; supports webcam / RTSP / file.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CameraManager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880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src/ingestion/camera_manager.py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N sources; round-robin frame retrieval.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src/ingestion/preprocessor.py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crop_bbox · preprocess_for_pose · letterbox.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FramePacket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src/core/types.py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Dataclass: camera_id, BGR frame, timestamp, frame_number.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AppConfig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5212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src/core/config.py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config with YAML loader; per-camera settings.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0" y="20116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89720" y="20116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4.8+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25146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(RTSP)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89720" y="25146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2.x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301752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89720" y="301752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threading.Thread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352044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queue.Queue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89720" y="352044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8972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443484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E3A8A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66560" y="4864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CAP_PROP_BUFFERSIZE = 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66560" y="52578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OpenCV buffer set to 1 frame. Combined with drop-oldest in our queue, this minimises latency between camera and AI pipeline — essential for real-time surveillance.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Working Demo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from actual pipeline runs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628900" y="196596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0A0E1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8900" y="1965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IMG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M1 Demo Screenshot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feed in web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343900" y="196596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0A0E1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3900" y="1965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IMG 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Camera / Video Input Screenshot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337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configuration and connection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628900" y="452628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0A0E1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28900" y="4526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IMG 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Multi-Camera Test Screenshot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8978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cameras processed in parallel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0690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11827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343900" y="452628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0A0E1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43900" y="4526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IMG 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5440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FPS / Performance Result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58978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output showing measured FPS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Limitations &amp;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current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577840" cy="4709160"/>
          </a:xfrm>
          <a:prstGeom prst="roundRect">
            <a:avLst>
              <a:gd name="adj" fmla="val 1942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3134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 synchronisation across cameras — each source runs at its own capture rate.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0906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reconnection for RTSP streams on connection loss (only retry on read failure).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8679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decoding — hardware-accelerated NVDEC / QSV not yet integrated.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64515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Frame-drop rate is not exposed as a metric — silent drops under high load.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4223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view assumes independent scenes; no cross-camera identity association.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1508760"/>
            <a:ext cx="5577840" cy="4709160"/>
          </a:xfrm>
          <a:prstGeom prst="roundRect">
            <a:avLst>
              <a:gd name="adj" fmla="val 1942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Next Steps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23134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auto-reconnect with exponential back-off + connection watchdog.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30906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frame-drop rate and queue depth metrics via web dashboard.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38679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GPU-accelerated decoding (NVIDIA Video Codec SDK).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464515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Frame-timestamp synchronisation for correlated multi-camera analysis.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54223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frame-rate throttling based on downstream pipeline load.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Detection &amp; Tracking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stage of the pipeline (context only)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in the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consumes frames produced by M1 and returns tracked person detections with persistent identity IDs. These are consumed downstream by M3 for behaviour reasoning.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FramePacket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4114800"/>
            <a:ext cx="137160" cy="137160"/>
          </a:xfrm>
          <a:prstGeom prst="rightArrow">
            <a:avLst/>
          </a:prstGeom>
          <a:solidFill>
            <a:srgbClr val="1F2937"/>
          </a:solidFill>
          <a:ln/>
        </p:spPr>
      </p:sp>
      <p:sp>
        <p:nvSpPr>
          <p:cNvPr id="14" name="Shape 12"/>
          <p:cNvSpPr/>
          <p:nvPr/>
        </p:nvSpPr>
        <p:spPr>
          <a:xfrm>
            <a:off x="2423160" y="365760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4206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sv.Detections + tracker_id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51960" y="4114800"/>
            <a:ext cx="137160" cy="137160"/>
          </a:xfrm>
          <a:prstGeom prst="rightArrow">
            <a:avLst/>
          </a:prstGeom>
          <a:solidFill>
            <a:srgbClr val="1F2937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365760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80560" y="4206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BehaviourEvent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150876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Technologies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2377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variant. 3.2M params. Person-class filter (COCO class_id=0). Suits CPU-only baseline.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6656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33649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association of high and low confidence detections. Fewer ID switches than SORT.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4078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435254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Roboflow's Python wrapper standardising sv.Detections between detector and tracker.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0" y="5065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TrackStore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534009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per-track history (centroids, bboxes, timestamps) enabling long-term temporal analysis.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5623560"/>
            <a:ext cx="5760720" cy="594360"/>
          </a:xfrm>
          <a:prstGeom prst="roundRect">
            <a:avLst>
              <a:gd name="adj" fmla="val 7692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623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Module 2 status is IMPLEMENTED but detailed results and per-module PPT are covered separately.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 and dependencies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Environment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11 · Linux · macOS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– 3.12 (3.11 recommended)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(recommended) or venv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baseline · GPU optional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 GB RAM for single camera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GB for models + dependencies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Dependencies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201168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057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&gt;=4.8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230428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22D3EE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2304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052560" y="201168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2057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8972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&gt;=1.24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018520" y="230428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9CA3AF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1018520" y="2304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63640" y="265176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ultralytics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&gt;=8.3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0" y="294436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29443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52560" y="265176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8972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89720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&gt;=0.25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1018520" y="294436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1018520" y="29443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63640" y="329184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337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&gt;=0.10, &lt;1.0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0" y="358444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8B5CF6">
              <a:alpha val="3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3584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052560" y="329184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89720" y="3337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18972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&gt;=2.1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1018520" y="358444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1018520" y="3584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263640" y="393192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0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&gt;=2.0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29600" y="422452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22C55E">
              <a:alpha val="3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229600" y="4224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052560" y="393192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89720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pyyaml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189720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&gt;=6.0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1018520" y="422452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22C55E">
              <a:alpha val="3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1018520" y="4224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263640" y="457200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0" y="4617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0" y="4846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&gt;=3.0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229600" y="486460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C084FC">
              <a:alpha val="3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229600" y="48646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9052560" y="457200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89720" y="4617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189720" y="4846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&gt;=8.0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1018520" y="4864608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9CA3AF">
              <a:alpha val="3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1018520" y="48646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beyond Phase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383280"/>
            <a:ext cx="105156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3200400"/>
            <a:ext cx="365760" cy="36576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0A0E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6517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22C55E">
              <a:alpha val="2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+ M2 + M3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detection, tracking, and rule-based behaviour classification.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320040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A0E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26517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37490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 — Face Recognition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· DeepFace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46177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matching and staff/visitor identification.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78040" y="3200400"/>
            <a:ext cx="365760" cy="36576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6517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8B5CF6">
              <a:alpha val="2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7490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 — Backend + Cloud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RBAC · Docker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46177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API, role-based access, cloud deployment.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66960" y="3200400"/>
            <a:ext cx="365760" cy="36576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A0E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46920" y="26517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23960" y="37490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684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 — Dashboard + Analytics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0684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Analytics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006840" y="46177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analytics dashboard, mobile alerts, forensic search.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6263640"/>
            <a:ext cx="11247120" cy="320040"/>
          </a:xfrm>
          <a:prstGeom prst="roundRect">
            <a:avLst>
              <a:gd name="adj" fmla="val 14286"/>
            </a:avLst>
          </a:prstGeom>
          <a:solidFill>
            <a:srgbClr val="1E3A8A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 train LSTM/GRU on labeled surveillance footage · cross-camera Re-ID · zone-based context awareness · edge deployment.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CCTV AI  ·  M1 PROGRESS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and technical sources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727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Bradski, G. (2000). "The OpenCV Library." Dr. Dobb's Journal of Software Tools.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53288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(2016). "RTSP 2.0 (RFC 7826)." Internet Engineering Task Force.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49300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Jocher, G. et al. (2023). "Ultralytics YOLOv8." Ultralytics, GitHub repository.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45312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Y. et al. (2022). "ByteTrack: Multi-Object Tracking by Associating Every Detection Box." ECCV 2022.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41324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Bewley, A. et al. (2016). "Simple Online and Realtime Tracking (SORT)." IEEE ICIP 2016.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554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15727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Wojke, N. et al. (2017). "Simple Online and Realtime Tracking with a Deep Association Metric (DeepSORT)." IEEE ICIP 2017.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2514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253288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Bazarevsky, V. et al. (2020). "BlazePose: On-device Real-time Body Pose Tracking." CVPR 2020 Workshop on Computer Vision for Augmented and Virtual Reality.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474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349300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Yan, S., Xiong, Y., Lin, D. (2018). "Spatial-Temporal Graph Convolutional Networks for Skeleton-Based Action Recognition." AAAI 2018.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4434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445312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Sultani, W. et al. (2018). "Real-World Anomaly Detection in Surveillance Videos." CVPR 2018. (UCF-Crime dataset)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541324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(2023). "supervision: reusable computer vision tools." GitHub: roboflow/supervision.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github.com/NectarScript/smart-cctv-ai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N. Patil  ·  Smart CCTV AI Mega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CCTV AI — Module 1 Progress</dc:title>
  <dc:subject>PptxGenJS Presentation</dc:subject>
  <dc:creator>PNJ Patil</dc:creator>
  <cp:lastModifiedBy>PNJ Patil</cp:lastModifiedBy>
  <cp:revision>1</cp:revision>
  <dcterms:created xsi:type="dcterms:W3CDTF">2026-08-19T19:32:57Z</dcterms:created>
  <dcterms:modified xsi:type="dcterms:W3CDTF">2026-08-19T19:32:57Z</dcterms:modified>
</cp:coreProperties>
</file>