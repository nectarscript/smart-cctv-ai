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E5FA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548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Multi-Camera Surveillance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Suspicious Behaviour Detection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1371600" cy="54864"/>
          </a:xfrm>
          <a:prstGeom prst="rect">
            <a:avLst/>
          </a:prstGeom>
          <a:solidFill>
            <a:srgbClr val="1E5FA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160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Progress Report — Multi-Camera Ingestion &amp; AI Vision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Seminar  |  PTSS-2  |  Phase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7th Semester Mega Project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0" y="5120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0" y="5440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Piyush N. Patil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INTRODUCTION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0080" cy="45720"/>
          </a:xfrm>
          <a:prstGeom prst="rect">
            <a:avLst/>
          </a:prstGeom>
          <a:solidFill>
            <a:srgbClr val="1E5FA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394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CCTV systems only record video. Detecting suspicious activity depends on human operators watching many feeds at once.
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attention degrades sharply after 20 minutes of continuous monitoring. Critical events are missed, and intelligent commercial solutions remain proprietary and expensive.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537960" y="2468880"/>
            <a:ext cx="384048" cy="384048"/>
          </a:xfrm>
          <a:prstGeom prst="ellipse">
            <a:avLst/>
          </a:prstGeom>
          <a:solidFill>
            <a:srgbClr val="1E5FAF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0" y="24505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Ingestion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27889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capture from webcams, IP cameras, and video files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37960" y="3337560"/>
            <a:ext cx="384048" cy="384048"/>
          </a:xfrm>
          <a:prstGeom prst="ellipse">
            <a:avLst/>
          </a:prstGeom>
          <a:solidFill>
            <a:srgbClr val="1E5FAF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0880" y="33192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Detection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40880" y="36576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+ ByteTrack for identity tracking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37960" y="4206240"/>
            <a:ext cx="384048" cy="384048"/>
          </a:xfrm>
          <a:prstGeom prst="ellipse">
            <a:avLst/>
          </a:prstGeom>
          <a:solidFill>
            <a:srgbClr val="1E5FAF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41879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Analysis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40880" y="45262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Pose-based rules for suspicious actions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37960" y="5074920"/>
            <a:ext cx="384048" cy="384048"/>
          </a:xfrm>
          <a:prstGeom prst="ellipse">
            <a:avLst/>
          </a:prstGeom>
          <a:solidFill>
            <a:srgbClr val="1E5FAF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50566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40880" y="5394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with alerts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|  Module 1 Progress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LITERATURE SURVEY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0080" cy="45720"/>
          </a:xfrm>
          <a:prstGeom prst="rect">
            <a:avLst/>
          </a:prstGeom>
          <a:solidFill>
            <a:srgbClr val="1E5FA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566160" cy="594360"/>
          </a:xfrm>
          <a:prstGeom prst="roundRect">
            <a:avLst>
              <a:gd name="adj" fmla="val 7692"/>
            </a:avLst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Ingestion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3566160" cy="3794760"/>
          </a:xfrm>
          <a:prstGeom prst="roundRect">
            <a:avLst>
              <a:gd name="adj" fmla="val 128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VideoCapture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Bradski (2000). Standard camera interfacing API.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Protocol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7826. Dominant IP camera streaming standard.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Drop-oldest Buffering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5394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 (2019). Real-time surveillance practice.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51960" y="1737360"/>
            <a:ext cx="3566160" cy="594360"/>
          </a:xfrm>
          <a:prstGeom prst="roundRect">
            <a:avLst>
              <a:gd name="adj" fmla="val 7692"/>
            </a:avLst>
          </a:prstGeom>
          <a:solidFill>
            <a:srgbClr val="1E5FAF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7373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Tracking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251960" y="2377440"/>
            <a:ext cx="3566160" cy="3794760"/>
          </a:xfrm>
          <a:prstGeom prst="roundRect">
            <a:avLst>
              <a:gd name="adj" fmla="val 128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434840" y="2926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Jocher et al. (2023). Modern one-stage object detector.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3484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434840" y="4160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(ECCV 2022). Reduces ID switches vs SORT.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34840" y="5029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DeepSORT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434840" y="5394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Wojke et al. (2017). Appearance-based tracking.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955280" y="1737360"/>
            <a:ext cx="3566160" cy="594360"/>
          </a:xfrm>
          <a:prstGeom prst="roundRect">
            <a:avLst>
              <a:gd name="adj" fmla="val 7692"/>
            </a:avLst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0" y="17373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Analysis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955280" y="2377440"/>
            <a:ext cx="3566160" cy="3794760"/>
          </a:xfrm>
          <a:prstGeom prst="roundRect">
            <a:avLst>
              <a:gd name="adj" fmla="val 128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138160" y="2926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Bazarevsky et al. (2020). 33-keypoint BlazePose.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3816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ST-GCN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138160" y="4160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 et al. (AAAI 2018). Graph CNN on skeletons.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38160" y="5029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138160" y="5394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 BriefCam, Avigilon.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|  Module 1 Progress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AIM AND OBJECTIVE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and Objective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0080" cy="45720"/>
          </a:xfrm>
          <a:prstGeom prst="rect">
            <a:avLst/>
          </a:prstGeom>
          <a:solidFill>
            <a:srgbClr val="1E5FA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1E5F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10652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implement an intelligent multi-camera surveillance pipeline that detects and classifies suspicious human behaviour in real time using open-source AI components.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31520" y="4526280"/>
            <a:ext cx="457200" cy="27432"/>
          </a:xfrm>
          <a:prstGeom prst="rect">
            <a:avLst/>
          </a:prstGeom>
          <a:solidFill>
            <a:srgbClr val="1E5FA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663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51663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threaded multi-camera capture layer supporting webcam, RTSP, and video files.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64992" y="379476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7872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3547872" y="4526280"/>
            <a:ext cx="457200" cy="27432"/>
          </a:xfrm>
          <a:prstGeom prst="rect">
            <a:avLst/>
          </a:prstGeom>
          <a:solidFill>
            <a:srgbClr val="1E5FAF"/>
          </a:solidFill>
          <a:ln/>
        </p:spPr>
      </p:sp>
      <p:sp>
        <p:nvSpPr>
          <p:cNvPr id="17" name="Text 15"/>
          <p:cNvSpPr/>
          <p:nvPr/>
        </p:nvSpPr>
        <p:spPr>
          <a:xfrm>
            <a:off x="3547872" y="4663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547872" y="51663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YOLOv8 person detection with ByteTrack for persistent identity tracking.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81344" y="379476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364224" y="4526280"/>
            <a:ext cx="457200" cy="27432"/>
          </a:xfrm>
          <a:prstGeom prst="rect">
            <a:avLst/>
          </a:prstGeom>
          <a:solidFill>
            <a:srgbClr val="1E5FAF"/>
          </a:solidFill>
          <a:ln/>
        </p:spPr>
      </p:sp>
      <p:sp>
        <p:nvSpPr>
          <p:cNvPr id="22" name="Text 20"/>
          <p:cNvSpPr/>
          <p:nvPr/>
        </p:nvSpPr>
        <p:spPr>
          <a:xfrm>
            <a:off x="6364224" y="4663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64224" y="51663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rule-based classifier over centroid history and pose keypoints.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997696" y="379476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0576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9180576" y="4526280"/>
            <a:ext cx="457200" cy="27432"/>
          </a:xfrm>
          <a:prstGeom prst="rect">
            <a:avLst/>
          </a:prstGeom>
          <a:solidFill>
            <a:srgbClr val="1E5FAF"/>
          </a:solidFill>
          <a:ln/>
        </p:spPr>
      </p:sp>
      <p:sp>
        <p:nvSpPr>
          <p:cNvPr id="27" name="Text 25"/>
          <p:cNvSpPr/>
          <p:nvPr/>
        </p:nvSpPr>
        <p:spPr>
          <a:xfrm>
            <a:off x="9180576" y="4663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180576" y="51663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web dashboard with live streaming and event log.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|  Module 1 Progress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PROPOSED METHODOLOGY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0080" cy="45720"/>
          </a:xfrm>
          <a:prstGeom prst="rect">
            <a:avLst/>
          </a:prstGeom>
          <a:solidFill>
            <a:srgbClr val="1E5FAF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2715768"/>
            <a:ext cx="228600" cy="5486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662940" y="1965960"/>
            <a:ext cx="1554480" cy="1554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Shape 5"/>
          <p:cNvSpPr/>
          <p:nvPr/>
        </p:nvSpPr>
        <p:spPr>
          <a:xfrm>
            <a:off x="845820" y="214884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45820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069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/ RTSP / File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60520" y="2715768"/>
            <a:ext cx="228600" cy="5486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2537460" y="1965960"/>
            <a:ext cx="1554480" cy="1554480"/>
          </a:xfrm>
          <a:prstGeom prst="ellipse">
            <a:avLst/>
          </a:prstGeom>
          <a:solidFill>
            <a:srgbClr val="1E5FAF"/>
          </a:solidFill>
          <a:ln/>
        </p:spPr>
      </p:sp>
      <p:sp>
        <p:nvSpPr>
          <p:cNvPr id="13" name="Shape 11"/>
          <p:cNvSpPr/>
          <p:nvPr/>
        </p:nvSpPr>
        <p:spPr>
          <a:xfrm>
            <a:off x="2720340" y="214884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720340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423160" y="3703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23160" y="4069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 capture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35040" y="2715768"/>
            <a:ext cx="228600" cy="5486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Shape 16"/>
          <p:cNvSpPr/>
          <p:nvPr/>
        </p:nvSpPr>
        <p:spPr>
          <a:xfrm>
            <a:off x="4411980" y="1965960"/>
            <a:ext cx="1554480" cy="1554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9" name="Shape 17"/>
          <p:cNvSpPr/>
          <p:nvPr/>
        </p:nvSpPr>
        <p:spPr>
          <a:xfrm>
            <a:off x="4594860" y="214884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94860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297680" y="3703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297680" y="4069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person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909560" y="2715768"/>
            <a:ext cx="228600" cy="5486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Shape 22"/>
          <p:cNvSpPr/>
          <p:nvPr/>
        </p:nvSpPr>
        <p:spPr>
          <a:xfrm>
            <a:off x="6286500" y="1965960"/>
            <a:ext cx="1554480" cy="1554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5" name="Shape 23"/>
          <p:cNvSpPr/>
          <p:nvPr/>
        </p:nvSpPr>
        <p:spPr>
          <a:xfrm>
            <a:off x="6469380" y="214884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69380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172200" y="3703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172200" y="4069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IDs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784080" y="2715768"/>
            <a:ext cx="228600" cy="5486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8161020" y="1965960"/>
            <a:ext cx="1554480" cy="1554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Shape 29"/>
          <p:cNvSpPr/>
          <p:nvPr/>
        </p:nvSpPr>
        <p:spPr>
          <a:xfrm>
            <a:off x="8343900" y="214884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343900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046720" y="3703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046720" y="4069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pose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035540" y="1965960"/>
            <a:ext cx="1554480" cy="1554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6" name="Shape 34"/>
          <p:cNvSpPr/>
          <p:nvPr/>
        </p:nvSpPr>
        <p:spPr>
          <a:xfrm>
            <a:off x="10218420" y="214884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0218420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9921240" y="3703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921240" y="4069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864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48640" y="5029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48640" y="5486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Each module is independently testable and swappable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217920" y="5486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first 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Drop-oldest buffering favours recency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4864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baseline 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Runs on commodity hardware; GPU optional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21792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All thresholds exposed in YAML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|  Module 1 Progress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MODULE DISTRIBUTION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Distribution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0080" cy="45720"/>
          </a:xfrm>
          <a:prstGeom prst="rect">
            <a:avLst/>
          </a:prstGeom>
          <a:solidFill>
            <a:srgbClr val="1E5FA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03120"/>
            <a:ext cx="822960" cy="502920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880360" y="21488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2880360" y="21488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Ingestion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79392" y="182880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07992" y="2103120"/>
            <a:ext cx="822960" cy="502920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4507992" y="21031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611112" y="21488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16" name="Text 14"/>
          <p:cNvSpPr/>
          <p:nvPr/>
        </p:nvSpPr>
        <p:spPr>
          <a:xfrm>
            <a:off x="6611112" y="21488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07992" y="27889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Tracking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07992" y="3520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10144" y="182880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38744" y="2103120"/>
            <a:ext cx="822960" cy="502920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8238744" y="21031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0341864" y="21488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23" name="Text 21"/>
          <p:cNvSpPr/>
          <p:nvPr/>
        </p:nvSpPr>
        <p:spPr>
          <a:xfrm>
            <a:off x="10341864" y="21488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38744" y="27889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Classification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38744" y="3520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25196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526280"/>
            <a:ext cx="822960" cy="502920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5262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2880360" y="45720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30" name="Text 28"/>
          <p:cNvSpPr/>
          <p:nvPr/>
        </p:nvSpPr>
        <p:spPr>
          <a:xfrm>
            <a:off x="2880360" y="45720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7240" y="52120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77240" y="5943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279392" y="425196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07992" y="4526280"/>
            <a:ext cx="822960" cy="502920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/>
        </p:spPr>
      </p:sp>
      <p:sp>
        <p:nvSpPr>
          <p:cNvPr id="35" name="Text 33"/>
          <p:cNvSpPr/>
          <p:nvPr/>
        </p:nvSpPr>
        <p:spPr>
          <a:xfrm>
            <a:off x="4507992" y="45262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6611112" y="45720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37" name="Text 35"/>
          <p:cNvSpPr/>
          <p:nvPr/>
        </p:nvSpPr>
        <p:spPr>
          <a:xfrm>
            <a:off x="6611112" y="45720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07992" y="52120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Cloud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507992" y="5943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010144" y="425196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38744" y="4526280"/>
            <a:ext cx="822960" cy="502920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/>
        </p:spPr>
      </p:sp>
      <p:sp>
        <p:nvSpPr>
          <p:cNvPr id="42" name="Text 40"/>
          <p:cNvSpPr/>
          <p:nvPr/>
        </p:nvSpPr>
        <p:spPr>
          <a:xfrm>
            <a:off x="8238744" y="45262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10341864" y="45720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44" name="Text 42"/>
          <p:cNvSpPr/>
          <p:nvPr/>
        </p:nvSpPr>
        <p:spPr>
          <a:xfrm>
            <a:off x="10341864" y="45720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238744" y="52120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Analytics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8238744" y="5943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|  Module 1 Progress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MODULE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Multi-Camera Ingestion &amp; AI Vision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0080" cy="45720"/>
          </a:xfrm>
          <a:prstGeom prst="rect">
            <a:avLst/>
          </a:prstGeom>
          <a:solidFill>
            <a:srgbClr val="1E5FA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raw video from heterogeneous sources — laptop webcams, IP cameras over RTSP, and pre-recorded video files — and deliver clean, timestamped frames to the downstream AI pipeline without blocking.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4663440"/>
            <a:ext cx="137160" cy="137160"/>
          </a:xfrm>
          <a:prstGeom prst="ellipse">
            <a:avLst/>
          </a:prstGeom>
          <a:solidFill>
            <a:srgbClr val="1E5FA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572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lifecycle of N camera streams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5029200"/>
            <a:ext cx="137160" cy="137160"/>
          </a:xfrm>
          <a:prstGeom prst="ellipse">
            <a:avLst/>
          </a:prstGeom>
          <a:solidFill>
            <a:srgbClr val="1E5FA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937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 capture to avoid blocking the AI loop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5394960"/>
            <a:ext cx="137160" cy="137160"/>
          </a:xfrm>
          <a:prstGeom prst="ellipse">
            <a:avLst/>
          </a:prstGeom>
          <a:solidFill>
            <a:srgbClr val="1E5FA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queue with drop-oldest policy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5760720"/>
            <a:ext cx="137160" cy="137160"/>
          </a:xfrm>
          <a:prstGeom prst="ellipse">
            <a:avLst/>
          </a:prstGeom>
          <a:solidFill>
            <a:srgbClr val="1E5FA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669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preprocessing (crop, colour, resize)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772400" y="173736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914400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Types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· RTSP · File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0" y="329184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3383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914400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in Parallel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0" y="3977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Thread-per-camera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0" y="484632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49377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9144000" y="5120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Depth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0" y="5532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Drop-oldest policy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|  Module 1 Progress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M1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Pipeline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0080" cy="45720"/>
          </a:xfrm>
          <a:prstGeom prst="rect">
            <a:avLst/>
          </a:prstGeom>
          <a:solidFill>
            <a:srgbClr val="1E5FA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74320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41448" y="3246120"/>
            <a:ext cx="146304" cy="18288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8" name="Shape 6"/>
          <p:cNvSpPr/>
          <p:nvPr/>
        </p:nvSpPr>
        <p:spPr>
          <a:xfrm>
            <a:off x="2606040" y="274320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1E5FAF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24528" y="3246120"/>
            <a:ext cx="146304" cy="18288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0" y="274320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07608" y="3246120"/>
            <a:ext cx="146304" cy="18288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4" name="Shape 12"/>
          <p:cNvSpPr/>
          <p:nvPr/>
        </p:nvSpPr>
        <p:spPr>
          <a:xfrm>
            <a:off x="6172200" y="274320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90688" y="3246120"/>
            <a:ext cx="146304" cy="18288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7" name="Shape 15"/>
          <p:cNvSpPr/>
          <p:nvPr/>
        </p:nvSpPr>
        <p:spPr>
          <a:xfrm>
            <a:off x="7955280" y="274320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573768" y="3246120"/>
            <a:ext cx="146304" cy="18288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0" name="Shape 18"/>
          <p:cNvSpPr/>
          <p:nvPr/>
        </p:nvSpPr>
        <p:spPr>
          <a:xfrm>
            <a:off x="9738360" y="274320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9738360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2148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Camera → Capture → Process → Buffer → AI → Output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Details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" y="4754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Sources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834640" y="4754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index · RTSP URL · Video file path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172200" y="4754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Capture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58200" y="4754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cv2.VideoCapture in daemon thread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51846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834640" y="51846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with padding · BGR→RGB · Letterbox resize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172200" y="51846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Buffer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58200" y="51846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queue.Queue with drop-oldest on full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8640" y="56144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834640" y="5614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to Module 2: Detection + Tracking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172200" y="56144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58200" y="5614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frames + behaviour events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|  Module 1 Progress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IMPLEMENTATION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Implementation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0080" cy="45720"/>
          </a:xfrm>
          <a:prstGeom prst="rect">
            <a:avLst/>
          </a:prstGeom>
          <a:solidFill>
            <a:srgbClr val="1E5FA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Components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6766560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77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CameraSource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108960" y="23774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Thread-per-camera capture wrapping cv2.VideoCapture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6766560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154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CameraManager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108960" y="31546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N sources, round-robin frame retrieval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6766560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31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108960" y="39319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crop_bbox, preprocess_for_pose, letterbox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6766560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709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FramePacket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108960" y="47091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Dataclass: camera_id, frame, timestamp, frame number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86400"/>
            <a:ext cx="6766560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486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AppConfig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108960" y="54864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config with YAML loader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35240" y="1737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635240" y="2377440"/>
            <a:ext cx="3977640" cy="36576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7635240" y="23774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635240" y="2834640"/>
            <a:ext cx="3977640" cy="36576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7635240" y="28346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4.8+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635240" y="3291840"/>
            <a:ext cx="3977640" cy="36576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27" name="Text 25"/>
          <p:cNvSpPr/>
          <p:nvPr/>
        </p:nvSpPr>
        <p:spPr>
          <a:xfrm>
            <a:off x="7635240" y="32918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35240" y="3749040"/>
            <a:ext cx="3977640" cy="36576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29" name="Text 27"/>
          <p:cNvSpPr/>
          <p:nvPr/>
        </p:nvSpPr>
        <p:spPr>
          <a:xfrm>
            <a:off x="7635240" y="37490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2.x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635240" y="4206240"/>
            <a:ext cx="3977640" cy="36576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31" name="Text 29"/>
          <p:cNvSpPr/>
          <p:nvPr/>
        </p:nvSpPr>
        <p:spPr>
          <a:xfrm>
            <a:off x="7635240" y="4206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PyYAML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635240" y="4663440"/>
            <a:ext cx="3977640" cy="36576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33" name="Text 31"/>
          <p:cNvSpPr/>
          <p:nvPr/>
        </p:nvSpPr>
        <p:spPr>
          <a:xfrm>
            <a:off x="7635240" y="46634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635240" y="5120640"/>
            <a:ext cx="3977640" cy="36576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35" name="Text 33"/>
          <p:cNvSpPr/>
          <p:nvPr/>
        </p:nvSpPr>
        <p:spPr>
          <a:xfrm>
            <a:off x="7635240" y="51206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queue.Queue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|  Module 1 Progress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WORKING DEMO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Working Demo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0080" cy="45720"/>
          </a:xfrm>
          <a:prstGeom prst="rect">
            <a:avLst/>
          </a:prstGeom>
          <a:solidFill>
            <a:srgbClr val="1E5FA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from actual pipeline runs — insert real captures below.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9050">
            <a:solidFill>
              <a:srgbClr val="1E5FA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2926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M1 Demo Screenshot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webcam feed in web dashboard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9050">
            <a:solidFill>
              <a:srgbClr val="1E5FAF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492240" y="2926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Multi-Camera Test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92240" y="3474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sources processed in parallel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9050">
            <a:solidFill>
              <a:srgbClr val="1E5FA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822960" y="5212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Camera / Video Input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5760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configuration and connection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44805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9050">
            <a:solidFill>
              <a:srgbClr val="1E5FAF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492240" y="5212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FPS / Performance Result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5760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output with measured FPS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|  Module 1 Progress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LIMITATIONS &amp; NEXT STEPS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 &amp; Next Steps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0080" cy="45720"/>
          </a:xfrm>
          <a:prstGeom prst="rect">
            <a:avLst/>
          </a:prstGeom>
          <a:solidFill>
            <a:srgbClr val="1E5FA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5778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468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 synchronisation across cameras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3154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auto-reconnect for RTSP on connection loss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840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3840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decoding (no hardware acceleration)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4526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4526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Frame-drop rate not exposed as a metric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5212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5212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cross-camera identity association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9360" y="173736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1737360"/>
            <a:ext cx="530352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17373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Next Steps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37960" y="2468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0" y="2468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auto-reconnect with exponential backoff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3154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58000" y="3154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frame-drop rate on web dashboard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37960" y="3840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58000" y="3840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GPU-accelerated decoding (NVDEC)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37960" y="4526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58000" y="4526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Frame-timestamp synchronisation across cameras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37960" y="5212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858000" y="5212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frame-rate based on pipeline load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|  Module 1 Progress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MODULE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Detection &amp; Tracking (Context)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0080" cy="45720"/>
          </a:xfrm>
          <a:prstGeom prst="rect">
            <a:avLst/>
          </a:prstGeom>
          <a:solidFill>
            <a:srgbClr val="1E5FA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stage of the pipeline. M2 consumes frames from M1 and returns tracked person detections with persistent identity IDs.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832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FramePacket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3840480"/>
            <a:ext cx="182880" cy="22860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1" name="Shape 9"/>
          <p:cNvSpPr/>
          <p:nvPr/>
        </p:nvSpPr>
        <p:spPr>
          <a:xfrm>
            <a:off x="2971800" y="324612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5400">
            <a:solidFill>
              <a:srgbClr val="1E5F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33832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063240" y="40233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 + Track IDs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66360" y="3840480"/>
            <a:ext cx="182880" cy="22860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5" name="Shape 13"/>
          <p:cNvSpPr/>
          <p:nvPr/>
        </p:nvSpPr>
        <p:spPr>
          <a:xfrm>
            <a:off x="5394960" y="324612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33832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486400" y="40233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BehaviourEvent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80960" y="1737360"/>
            <a:ext cx="3931920" cy="4572000"/>
          </a:xfrm>
          <a:prstGeom prst="roundRect">
            <a:avLst>
              <a:gd name="adj" fmla="val 186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0956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Technologies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90956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909560" y="2834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3.2M params, person filter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0956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909560" y="3749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Byte-level association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909560" y="4297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909560" y="4663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sv.Detections API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909560" y="5212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TrackStore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909560" y="5577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Per-track spatial history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6949440" cy="1188720"/>
          </a:xfrm>
          <a:prstGeom prst="roundRect">
            <a:avLst>
              <a:gd name="adj" fmla="val 3846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257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557784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is implemented and functional. Detailed methodology, evaluation, and results are covered in a separate module-specific presentation.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|  Module 1 Progress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SOFTWARE REQUIREMENTS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0080" cy="45720"/>
          </a:xfrm>
          <a:prstGeom prst="rect">
            <a:avLst/>
          </a:prstGeom>
          <a:solidFill>
            <a:srgbClr val="1E5FA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Environment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34640" y="2331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Linux / macOS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486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Version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83464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3.10 – 3.12  (3.11 recommended)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5486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20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34640" y="3520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 or  venv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486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114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34640" y="4114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baseline · GPU optional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5486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709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834640" y="4709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 GB RAM (single camera)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5486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303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34640" y="5303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GB for models + dependencies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Dependencies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400800" y="2331720"/>
            <a:ext cx="2514600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opencv-python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37960" y="27157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&gt;=4.8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83880" y="274320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28" name="Text 26"/>
          <p:cNvSpPr/>
          <p:nvPr/>
        </p:nvSpPr>
        <p:spPr>
          <a:xfrm>
            <a:off x="8183880" y="2743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52560" y="2331720"/>
            <a:ext cx="2514600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8972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89720" y="27157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&gt;=1.24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835640" y="274320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33" name="Text 31"/>
          <p:cNvSpPr/>
          <p:nvPr/>
        </p:nvSpPr>
        <p:spPr>
          <a:xfrm>
            <a:off x="10835640" y="2743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3246120"/>
            <a:ext cx="2514600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537960" y="36301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&gt;=8.3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183880" y="365760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1E5FAF"/>
          </a:solidFill>
          <a:ln/>
        </p:spPr>
      </p:sp>
      <p:sp>
        <p:nvSpPr>
          <p:cNvPr id="38" name="Text 36"/>
          <p:cNvSpPr/>
          <p:nvPr/>
        </p:nvSpPr>
        <p:spPr>
          <a:xfrm>
            <a:off x="8183880" y="3657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052560" y="3246120"/>
            <a:ext cx="2514600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8972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189720" y="36301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&gt;=0.25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0835640" y="365760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1E5FAF"/>
          </a:solidFill>
          <a:ln/>
        </p:spPr>
      </p:sp>
      <p:sp>
        <p:nvSpPr>
          <p:cNvPr id="43" name="Text 41"/>
          <p:cNvSpPr/>
          <p:nvPr/>
        </p:nvSpPr>
        <p:spPr>
          <a:xfrm>
            <a:off x="10835640" y="3657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0800" y="4160520"/>
            <a:ext cx="2514600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37960" y="4251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537960" y="45445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&gt;=0.10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183880" y="457200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48" name="Text 46"/>
          <p:cNvSpPr/>
          <p:nvPr/>
        </p:nvSpPr>
        <p:spPr>
          <a:xfrm>
            <a:off x="8183880" y="4572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052560" y="4160520"/>
            <a:ext cx="2514600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89720" y="4251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9189720" y="45445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&gt;=2.1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10835640" y="457200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10835640" y="4572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400800" y="5074920"/>
            <a:ext cx="2514600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37960" y="5166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6537960" y="54589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&gt;=2.0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8183880" y="548640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58" name="Text 56"/>
          <p:cNvSpPr/>
          <p:nvPr/>
        </p:nvSpPr>
        <p:spPr>
          <a:xfrm>
            <a:off x="8183880" y="5486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9052560" y="5074920"/>
            <a:ext cx="2514600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89720" y="5166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9189720" y="54589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&gt;=3.0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10835640" y="548640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63" name="Text 61"/>
          <p:cNvSpPr/>
          <p:nvPr/>
        </p:nvSpPr>
        <p:spPr>
          <a:xfrm>
            <a:off x="10835640" y="5486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|  Module 1 Progress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— FUTURE WORK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0080" cy="45720"/>
          </a:xfrm>
          <a:prstGeom prst="rect">
            <a:avLst/>
          </a:prstGeom>
          <a:solidFill>
            <a:srgbClr val="1E5FAF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3081528"/>
            <a:ext cx="8366760" cy="5486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" y="178308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74520" y="2286000"/>
            <a:ext cx="0" cy="59436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2788920"/>
            <a:ext cx="640080" cy="64008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160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+ M2 + M3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9834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Ingestion, tracking, rule-based behaviour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023360" y="178308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1E5FAF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63440" y="2286000"/>
            <a:ext cx="0" cy="59436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3400" y="2788920"/>
            <a:ext cx="640080" cy="640080"/>
          </a:xfrm>
          <a:prstGeom prst="ellipse">
            <a:avLst/>
          </a:prstGeom>
          <a:solidFill>
            <a:srgbClr val="1E5FA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337560" y="402336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4160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520440" y="4572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20440" y="49834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FaceNet / DeepFace watchlist matching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12280" y="178308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452360" y="2286000"/>
            <a:ext cx="0" cy="59436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0" y="2788920"/>
            <a:ext cx="640080" cy="640080"/>
          </a:xfrm>
          <a:prstGeom prst="ellipse">
            <a:avLst/>
          </a:prstGeom>
          <a:solidFill>
            <a:srgbClr val="8B5CF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6126480" y="402336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4160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309360" y="4572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Cloud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09360" y="49834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RBAC, Docker deployment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601200" y="178308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0241280" y="2286000"/>
            <a:ext cx="0" cy="59436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21240" y="2788920"/>
            <a:ext cx="640080" cy="64008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2124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8915400" y="402336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98280" y="4160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9098280" y="4572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Analytics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098280" y="49834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UI, mobile alerts, search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|  Module 1 Progress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— REFERENCES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0080" cy="45720"/>
          </a:xfrm>
          <a:prstGeom prst="rect">
            <a:avLst/>
          </a:prstGeom>
          <a:solidFill>
            <a:srgbClr val="1E5FA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Bradski, G. (2000). The OpenCV Library. Dr. Dobb's Journal of Software Tools.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33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633472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 (2016). Real Time Streaming Protocol 2.0 (RFC 7826).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5295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3529584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Jocher, G. et al. (2023). Ultralytics YOLOv8. GitHub repository.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4256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4425696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Zhang, Y. et al. (2022). ByteTrack: Multi-Object Tracking by Associating Every Detection Box. ECCV 2022.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321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532180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Bewley, A. et al. (2016). Simple Online and Realtime Tracking (SORT). IEEE ICIP 2016.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812280" y="173736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Wojke, N. et al. (2017). Simple Online and Realtime Tracking with a Deep Association Metric. IEEE ICIP 2017.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2633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12280" y="2633472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Bazarevsky, V. et al. (2020). BlazePose: On-device Real-time Body Pose Tracking. CVPR 2020 Workshop.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35295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12280" y="3529584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Yan, S. et al. (2018). Spatial-Temporal Graph Convolutional Networks for Skeleton-Based Action Recognition. AAAI 2018.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44256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812280" y="4425696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Sultani, W. et al. (2018). Real-World Anomaly Detection in Surveillance Videos. CVPR 2018.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55080" y="5321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812280" y="532180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(2023). supervision: reusable computer vision tools. GitHub.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|  Module 1 Progress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CCTV AI — Module 1 Progress</dc:title>
  <dc:subject>PptxGenJS Presentation</dc:subject>
  <dc:creator>Piyush N. Patil</dc:creator>
  <cp:lastModifiedBy>Piyush N. Patil</cp:lastModifiedBy>
  <cp:revision>1</cp:revision>
  <dcterms:created xsi:type="dcterms:W3CDTF">2026-08-19T19:56:34Z</dcterms:created>
  <dcterms:modified xsi:type="dcterms:W3CDTF">2026-08-19T19:56:34Z</dcterms:modified>
</cp:coreProperties>
</file>